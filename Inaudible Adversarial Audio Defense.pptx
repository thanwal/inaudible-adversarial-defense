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Urbanist"/>
      <p:regular r:id="rId19"/>
      <p:bold r:id="rId20"/>
      <p:italic r:id="rId21"/>
      <p:boldItalic r:id="rId22"/>
    </p:embeddedFont>
    <p:embeddedFont>
      <p:font typeface="JetBrains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bold.fntdata"/><Relationship Id="rId22" Type="http://schemas.openxmlformats.org/officeDocument/2006/relationships/font" Target="fonts/Urbanist-boldItalic.fntdata"/><Relationship Id="rId21" Type="http://schemas.openxmlformats.org/officeDocument/2006/relationships/font" Target="fonts/Urbanist-italic.fntdata"/><Relationship Id="rId24" Type="http://schemas.openxmlformats.org/officeDocument/2006/relationships/font" Target="fonts/JetBrainsMono-bold.fntdata"/><Relationship Id="rId23" Type="http://schemas.openxmlformats.org/officeDocument/2006/relationships/font" Target="fonts/JetBrains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JetBrainsMono-boldItalic.fntdata"/><Relationship Id="rId25" Type="http://schemas.openxmlformats.org/officeDocument/2006/relationships/font" Target="fonts/JetBrains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Urbanis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4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320403" y="2122140"/>
            <a:ext cx="95511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INAUDIBLE AUDIO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ADVERSARIAL DEFENSE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62250" y="4141440"/>
            <a:ext cx="666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White-Box Attack Mitigation via Acoustic Firewalls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81025" y="2452687"/>
            <a:ext cx="11581447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Invisible Threat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619750" y="3376612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81025" y="3605212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Modern Automatic Speech Recognition (ASR) systems rely on highly sensitive neural networks that are mathematically vulnerable to stealthy hijacking through inaudible perturbations.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43175"/>
            <a:ext cx="5324475" cy="270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43175"/>
            <a:ext cx="5324475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971550" y="2933700"/>
            <a:ext cx="477059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VRIFLE Attack Model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71550" y="3448050"/>
            <a:ext cx="45434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Inspired by 2024 research, the attack utilizes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ultrasonic delivery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to inject adversarial perturbations that are entirely inaudible to human users but processed by voice assistants.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677025" y="2933700"/>
            <a:ext cx="477059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Nonlinear Vulnerability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677025" y="3448050"/>
            <a:ext cx="45434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Leveraging microphone hardware nonlinearity, high-frequency ultrasonic carriers are demodulated into the baseband, allowing attackers to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inject commands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in real-time.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NDSS 2024 THREAT LANDSCAPE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8262" y="1990725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7787" y="2000250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6286500" y="2986087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Carrier Payload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6286500" y="3395662"/>
            <a:ext cx="53244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We utilize the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Fluent Speech Commands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dataset as our carrier signal. It contains over 30,000 recordings of smart home commands, providing a diverse baseline for testing hijacking robustness across multiple speakers.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FLUENT SPEECH COMMANDS</a:t>
            </a:r>
            <a:endParaRPr/>
          </a:p>
        </p:txBody>
      </p:sp>
      <p:sp>
        <p:nvSpPr>
          <p:cNvPr id="118" name="Google Shape;118;p16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926062"/>
            <a:ext cx="11029950" cy="5874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401812"/>
            <a:ext cx="11029950" cy="498797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581025" y="5894486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Projected Gradient Descent (PGD) iteratively updates the audio tensor to minimize loss against a malicious target transcript.</a:t>
            </a:r>
            <a:endParaRPr/>
          </a:p>
        </p:txBody>
      </p:sp>
      <p:pic>
        <p:nvPicPr>
          <p:cNvPr descr="image.png" id="127" name="Google Shape;12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5116562"/>
            <a:ext cx="10610850" cy="20642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 txBox="1"/>
          <p:nvPr/>
        </p:nvSpPr>
        <p:spPr>
          <a:xfrm>
            <a:off x="771525" y="468362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PGD OPTIMIZATION STRATEGY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581025" y="468362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581025" y="2924175"/>
            <a:ext cx="53244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581025" y="4543425"/>
            <a:ext cx="53244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Attack Success Rate (ASR)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6286500" y="3138487"/>
            <a:ext cx="559069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Stealth Payload Execution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6286500" y="3548062"/>
            <a:ext cx="5324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Without an active firewall, the system successfully transcribes the malicious command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"Unlock front door"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across 100% of tested samples from the Fluent Speech Commands dataset.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UNMITIGATED HIJACKING SUCCESS</a:t>
            </a: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771525" y="581025"/>
            <a:ext cx="4990623" cy="165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MU-LAW COMPANDING DEFENSE</a:t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581025" y="581025"/>
            <a:ext cx="57150" cy="16573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8" name="Google Shape;14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2438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>
            <a:off x="581025" y="3090862"/>
            <a:ext cx="51906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Logarithmic Protection</a:t>
            </a:r>
            <a:endParaRPr/>
          </a:p>
        </p:txBody>
      </p:sp>
      <p:sp>
        <p:nvSpPr>
          <p:cNvPr id="150" name="Google Shape;150;p19"/>
          <p:cNvSpPr txBox="1"/>
          <p:nvPr/>
        </p:nvSpPr>
        <p:spPr>
          <a:xfrm>
            <a:off x="581025" y="3500437"/>
            <a:ext cx="49434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By applying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Mu-Law Companding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, we logarithmically compress the audio signal. This telecommunications technique effectively shatters the fragile, linear adversarial noise calculated by the PGD algorithm.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581025" y="4910137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macroscopic human voice survives the compression, while the microscopic adversarial gradients are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mathematically obliterated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/>
          <p:nvPr/>
        </p:nvSpPr>
        <p:spPr>
          <a:xfrm>
            <a:off x="581025" y="388620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1718071" y="429577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520362" y="3595687"/>
            <a:ext cx="254781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Phase 1: Baseline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581025" y="4043362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System processes benign audio to establish ground truth transcription.</a:t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4585841" y="429577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3388131" y="3595687"/>
            <a:ext cx="254781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Phase 2: Compromise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3448794" y="4043362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PGD algorithm injects inaudible noise to hijack the model output.</a:t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7453610" y="429577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6255900" y="3595687"/>
            <a:ext cx="254781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Phase 3: Mitigation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6316563" y="4043362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Mu-Law firewall intercepts and purifies the acoustic signal.</a:t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10321379" y="4295775"/>
            <a:ext cx="152400" cy="1524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9123670" y="3595687"/>
            <a:ext cx="254781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Phase 4: Secured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9184332" y="4043362"/>
            <a:ext cx="24264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Model rejects malicious command, protecting system integrity.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SYSTEM EVALUATION LIFECYCLE</a:t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4475"/>
            <a:ext cx="110299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1"/>
          <p:cNvSpPr txBox="1"/>
          <p:nvPr/>
        </p:nvSpPr>
        <p:spPr>
          <a:xfrm>
            <a:off x="581025" y="483870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Note: Post-Defense Accuracy drop represents the "Accuracy vs. Robustness" trade-off common in adversarial machine learning.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QUANTITATIVE PERFORMANCE METRICS</a:t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 txBox="1"/>
          <p:nvPr/>
        </p:nvSpPr>
        <p:spPr>
          <a:xfrm>
            <a:off x="962025" y="2868066"/>
            <a:ext cx="10267950" cy="15600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It is infinitely better for an AI to fail-safe and ask 'please repeat that' than to silently execute a hacker's command to unlock the front door. 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581025" y="4828133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— Security Methodology Insight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485775" y="2582316"/>
            <a:ext cx="247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7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SECURITY PARADOX</a:t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002357"/>
            <a:ext cx="5324475" cy="57868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011882"/>
            <a:ext cx="5305425" cy="576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/>
        </p:nvSpPr>
        <p:spPr>
          <a:xfrm>
            <a:off x="581025" y="1154757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Adversarial Training: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Fine-tuning ASR models on Mu-Law companded audio to restore lost phonetic accuracy.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581025" y="1954857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Ultrasonic Detection: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Implementing hardware-level energy detectors for frequencies &gt;20kHz.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581025" y="2754957"/>
            <a:ext cx="5324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Multi-Model Ensembles:</a:t>
            </a: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Cross-verifying audio through multiple filters to ensure signal consistency.</a:t>
            </a:r>
            <a:endParaRPr/>
          </a:p>
        </p:txBody>
      </p:sp>
      <p:pic>
        <p:nvPicPr>
          <p:cNvPr descr="image.png" id="201" name="Google Shape;20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20714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2007244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2807344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771525" y="68907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PATH FORWARD</a:t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>
            <a:off x="581025" y="68907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/>
          <p:nvPr/>
        </p:nvSpPr>
        <p:spPr>
          <a:xfrm>
            <a:off x="305276" y="2262187"/>
            <a:ext cx="11581447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12" name="Google Shape;212;p24"/>
          <p:cNvSpPr/>
          <p:nvPr/>
        </p:nvSpPr>
        <p:spPr>
          <a:xfrm>
            <a:off x="5619750" y="3186112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4"/>
          <p:cNvSpPr txBox="1"/>
          <p:nvPr/>
        </p:nvSpPr>
        <p:spPr>
          <a:xfrm>
            <a:off x="581025" y="341471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Inaudible Adversarial Audio Defense &amp; Acoustic Firewalls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581025" y="4100512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Abhi | Information Security Research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5"/>
          <p:cNvSpPr/>
          <p:nvPr/>
        </p:nvSpPr>
        <p:spPr>
          <a:xfrm>
            <a:off x="581025" y="2330946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581025" y="3115716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581025" y="3900487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581025" y="310619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581025" y="310619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581025" y="38909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581025" y="389096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581025" y="467573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581025" y="467573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9" name="Google Shape;22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803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5"/>
          <p:cNvSpPr txBox="1"/>
          <p:nvPr/>
        </p:nvSpPr>
        <p:spPr>
          <a:xfrm>
            <a:off x="1676400" y="2473821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https://www.datocms-assets.com/53444/1756371572-headphones-testing-anechoic-chamber.jpg?auto=format&amp;w=1200</a:t>
            </a:r>
            <a:endParaRPr/>
          </a:p>
        </p:txBody>
      </p:sp>
      <p:sp>
        <p:nvSpPr>
          <p:cNvPr id="231" name="Google Shape;231;p25"/>
          <p:cNvSpPr txBox="1"/>
          <p:nvPr/>
        </p:nvSpPr>
        <p:spPr>
          <a:xfrm>
            <a:off x="1676400" y="2719536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dewesoft.com</a:t>
            </a:r>
            <a:endParaRPr/>
          </a:p>
        </p:txBody>
      </p:sp>
      <p:pic>
        <p:nvPicPr>
          <p:cNvPr descr="image.png" id="232" name="Google Shape;23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2651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 txBox="1"/>
          <p:nvPr/>
        </p:nvSpPr>
        <p:spPr>
          <a:xfrm>
            <a:off x="1676400" y="3258591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https://www.physicsclassroom.com/Class/sound/u11l1c2.gif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1676400" y="350430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www.physicsclassroom.com</a:t>
            </a:r>
            <a:endParaRPr/>
          </a:p>
        </p:txBody>
      </p:sp>
      <p:pic>
        <p:nvPicPr>
          <p:cNvPr descr="image.png" id="235" name="Google Shape;23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0499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/>
        </p:nvSpPr>
        <p:spPr>
          <a:xfrm>
            <a:off x="1676400" y="4043362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https://cdn.vectorstock.com/i/1000v/04/37/grey-shield-with-teal-waveform-ids-icon-vector-59960437.jpg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1676400" y="428907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www.vectorstock.com</a:t>
            </a:r>
            <a:endParaRPr/>
          </a:p>
        </p:txBody>
      </p:sp>
      <p:pic>
        <p:nvPicPr>
          <p:cNvPr descr="image.png" id="238" name="Google Shape;238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83468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 txBox="1"/>
          <p:nvPr/>
        </p:nvSpPr>
        <p:spPr>
          <a:xfrm>
            <a:off x="1676400" y="4828133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https://img.freepik.com/free-psd/abstract-digital-data-stream-green-binary-code-visualization_632498-26033.jpg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1676400" y="5073848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www.freepik.com</a:t>
            </a:r>
            <a:endParaRPr/>
          </a:p>
        </p:txBody>
      </p:sp>
      <p:sp>
        <p:nvSpPr>
          <p:cNvPr id="241" name="Google Shape;241;p25"/>
          <p:cNvSpPr txBox="1"/>
          <p:nvPr/>
        </p:nvSpPr>
        <p:spPr>
          <a:xfrm>
            <a:off x="771525" y="581025"/>
            <a:ext cx="1138142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581025" y="581025"/>
            <a:ext cx="57150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